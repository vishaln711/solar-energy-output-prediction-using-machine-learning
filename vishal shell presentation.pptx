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608851-5422-1EC3-4789-E14705BC3E55}" v="338" dt="2025-11-17T10:18:13.965"/>
    <p1510:client id="{A21E3BE0-9B14-4154-D2BD-F2D84C173353}" v="21" dt="2025-11-17T10:53:36.9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10;p4" descr="A close up of a sign&#10;&#10;Description automatically generated"/>
          <p:cNvPicPr/>
          <p:nvPr/>
        </p:nvPicPr>
        <p:blipFill>
          <a:blip r:embed="rId2"/>
          <a:stretch/>
        </p:blipFill>
        <p:spPr>
          <a:xfrm>
            <a:off x="10072800" y="78120"/>
            <a:ext cx="1800000" cy="5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Rectangle 14"/>
          <p:cNvSpPr/>
          <p:nvPr/>
        </p:nvSpPr>
        <p:spPr>
          <a:xfrm>
            <a:off x="0" y="0"/>
            <a:ext cx="9829440" cy="71712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IN" sz="1870" b="0" u="none" strike="noStrik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4" name="Rectangle 18"/>
          <p:cNvSpPr/>
          <p:nvPr/>
        </p:nvSpPr>
        <p:spPr>
          <a:xfrm>
            <a:off x="9888840" y="-360"/>
            <a:ext cx="111960" cy="73188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IN" sz="1870" b="0" u="none" strike="noStrik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5" name="Picture 30" descr="A blue and white background&#10;&#10;Description automatically generated with medium confidence"/>
          <p:cNvPicPr/>
          <p:nvPr/>
        </p:nvPicPr>
        <p:blipFill>
          <a:blip r:embed="rId3">
            <a:alphaModFix amt="16000"/>
          </a:blip>
          <a:srcRect t="24723" r="1620" b="63695"/>
          <a:stretch/>
        </p:blipFill>
        <p:spPr>
          <a:xfrm>
            <a:off x="0" y="0"/>
            <a:ext cx="9838800" cy="72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" name="Rectangle 1"/>
          <p:cNvSpPr/>
          <p:nvPr/>
        </p:nvSpPr>
        <p:spPr>
          <a:xfrm>
            <a:off x="11925360" y="-360"/>
            <a:ext cx="266400" cy="731880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IN" sz="1870" b="0" u="none" strike="noStrik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onte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110;p4" descr="A close up of a sign&#10;&#10;Description automatically generated"/>
          <p:cNvPicPr/>
          <p:nvPr/>
        </p:nvPicPr>
        <p:blipFill>
          <a:blip r:embed="rId2"/>
          <a:stretch/>
        </p:blipFill>
        <p:spPr>
          <a:xfrm>
            <a:off x="10072800" y="78120"/>
            <a:ext cx="1800000" cy="5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Rectangle 14"/>
          <p:cNvSpPr/>
          <p:nvPr/>
        </p:nvSpPr>
        <p:spPr>
          <a:xfrm>
            <a:off x="0" y="0"/>
            <a:ext cx="9829440" cy="71712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IN" sz="1870" b="0" u="none" strike="noStrik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1" name="Rectangle 18"/>
          <p:cNvSpPr/>
          <p:nvPr/>
        </p:nvSpPr>
        <p:spPr>
          <a:xfrm>
            <a:off x="9888840" y="-360"/>
            <a:ext cx="111960" cy="73188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IN" sz="1870" b="0" u="none" strike="noStrik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12" name="Picture 30" descr="A blue and white background&#10;&#10;Description automatically generated with medium confidence"/>
          <p:cNvPicPr/>
          <p:nvPr/>
        </p:nvPicPr>
        <p:blipFill>
          <a:blip r:embed="rId3">
            <a:alphaModFix amt="16000"/>
          </a:blip>
          <a:srcRect t="24723" r="1620" b="63695"/>
          <a:stretch/>
        </p:blipFill>
        <p:spPr>
          <a:xfrm>
            <a:off x="0" y="0"/>
            <a:ext cx="9838800" cy="72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Rectangle 1"/>
          <p:cNvSpPr/>
          <p:nvPr/>
        </p:nvSpPr>
        <p:spPr>
          <a:xfrm>
            <a:off x="11925360" y="-360"/>
            <a:ext cx="266400" cy="731880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IN" sz="1870" b="0" u="none" strike="noStrik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7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10;p4" descr="A close up of a sign&#10;&#10;Description automatically generated"/>
          <p:cNvPicPr/>
          <p:nvPr/>
        </p:nvPicPr>
        <p:blipFill>
          <a:blip r:embed="rId2"/>
          <a:stretch/>
        </p:blipFill>
        <p:spPr>
          <a:xfrm>
            <a:off x="10072800" y="78120"/>
            <a:ext cx="1800000" cy="5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Rectangle 14"/>
          <p:cNvSpPr/>
          <p:nvPr/>
        </p:nvSpPr>
        <p:spPr>
          <a:xfrm>
            <a:off x="0" y="0"/>
            <a:ext cx="9829440" cy="71712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IN" sz="1870" b="0" u="none" strike="noStrik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18" name="Rectangle 18"/>
          <p:cNvSpPr/>
          <p:nvPr/>
        </p:nvSpPr>
        <p:spPr>
          <a:xfrm>
            <a:off x="9888840" y="-360"/>
            <a:ext cx="111960" cy="73188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IN" sz="1870" b="0" u="none" strike="noStrik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19" name="Picture 30" descr="A blue and white background&#10;&#10;Description automatically generated with medium confidence"/>
          <p:cNvPicPr/>
          <p:nvPr/>
        </p:nvPicPr>
        <p:blipFill>
          <a:blip r:embed="rId3">
            <a:alphaModFix amt="16000"/>
          </a:blip>
          <a:srcRect t="24723" r="1620" b="63695"/>
          <a:stretch/>
        </p:blipFill>
        <p:spPr>
          <a:xfrm>
            <a:off x="0" y="0"/>
            <a:ext cx="9838800" cy="72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" name="Rectangle 1"/>
          <p:cNvSpPr/>
          <p:nvPr/>
        </p:nvSpPr>
        <p:spPr>
          <a:xfrm>
            <a:off x="11925360" y="-360"/>
            <a:ext cx="266400" cy="731880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IN" sz="1870" b="0" u="none" strike="noStrik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Title Slid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110;p4" descr="A close up of a sign&#10;&#10;Description automatically generated"/>
          <p:cNvPicPr/>
          <p:nvPr/>
        </p:nvPicPr>
        <p:blipFill>
          <a:blip r:embed="rId2"/>
          <a:stretch/>
        </p:blipFill>
        <p:spPr>
          <a:xfrm>
            <a:off x="10072800" y="78120"/>
            <a:ext cx="1800000" cy="57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Rectangle 14"/>
          <p:cNvSpPr/>
          <p:nvPr/>
        </p:nvSpPr>
        <p:spPr>
          <a:xfrm>
            <a:off x="0" y="0"/>
            <a:ext cx="9829440" cy="71712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IN" sz="1870" b="0" u="none" strike="noStrik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3" name="Rectangle 18"/>
          <p:cNvSpPr/>
          <p:nvPr/>
        </p:nvSpPr>
        <p:spPr>
          <a:xfrm>
            <a:off x="9888840" y="-360"/>
            <a:ext cx="111960" cy="731880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IN" sz="1870" b="0" u="none" strike="noStrik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pic>
        <p:nvPicPr>
          <p:cNvPr id="24" name="Picture 30" descr="A blue and white background&#10;&#10;Description automatically generated with medium confidence"/>
          <p:cNvPicPr/>
          <p:nvPr/>
        </p:nvPicPr>
        <p:blipFill>
          <a:blip r:embed="rId3">
            <a:alphaModFix amt="16000"/>
          </a:blip>
          <a:srcRect t="24723" r="1620" b="63695"/>
          <a:stretch/>
        </p:blipFill>
        <p:spPr>
          <a:xfrm>
            <a:off x="0" y="0"/>
            <a:ext cx="9838800" cy="723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" name="Rectangle 1"/>
          <p:cNvSpPr/>
          <p:nvPr/>
        </p:nvSpPr>
        <p:spPr>
          <a:xfrm>
            <a:off x="11925360" y="-360"/>
            <a:ext cx="266400" cy="731880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IN" sz="1870" b="0" u="none" strike="noStrik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ishalN711/Solar-Energy-Output-Prediction-using-Machine-Learning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1" descr="A person sitting at a desk with a computer&#10;&#10;Description automatically generated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Rectangle: Rounded Corners 3"/>
          <p:cNvSpPr/>
          <p:nvPr/>
        </p:nvSpPr>
        <p:spPr>
          <a:xfrm>
            <a:off x="5873760" y="584280"/>
            <a:ext cx="4673160" cy="977400"/>
          </a:xfrm>
          <a:prstGeom prst="roundRect">
            <a:avLst>
              <a:gd name="adj" fmla="val 16667"/>
            </a:avLst>
          </a:prstGeom>
          <a:solidFill>
            <a:srgbClr val="EBEEF9"/>
          </a:solidFill>
          <a:ln>
            <a:solidFill>
              <a:srgbClr val="FFFFFF">
                <a:lumMod val="85000"/>
              </a:srgb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IN" sz="1870" b="0" u="none" strike="noStrike">
              <a:solidFill>
                <a:schemeClr val="lt1"/>
              </a:solidFill>
              <a:effectLst/>
              <a:uFillTx/>
              <a:latin typeface="Arial"/>
              <a:ea typeface="Arial"/>
            </a:endParaRPr>
          </a:p>
        </p:txBody>
      </p:sp>
      <p:sp>
        <p:nvSpPr>
          <p:cNvPr id="28" name="TextBox 4"/>
          <p:cNvSpPr/>
          <p:nvPr/>
        </p:nvSpPr>
        <p:spPr>
          <a:xfrm>
            <a:off x="4151520" y="3429000"/>
            <a:ext cx="7278480" cy="759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US" sz="44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Solar Energy Prediction-ML</a:t>
            </a:r>
            <a:r>
              <a:rPr lang="en-IN" sz="3600" b="1" u="none" strike="noStrike">
                <a:solidFill>
                  <a:schemeClr val="lt1"/>
                </a:solidFill>
                <a:effectLst/>
                <a:uFillTx/>
                <a:latin typeface="Calibri"/>
                <a:ea typeface="Arial"/>
              </a:rPr>
              <a:t>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9" name="Group 5"/>
          <p:cNvGrpSpPr/>
          <p:nvPr/>
        </p:nvGrpSpPr>
        <p:grpSpPr>
          <a:xfrm>
            <a:off x="6890400" y="741960"/>
            <a:ext cx="2639880" cy="663840"/>
            <a:chOff x="6890400" y="741960"/>
            <a:chExt cx="2639880" cy="663840"/>
          </a:xfrm>
        </p:grpSpPr>
        <p:pic>
          <p:nvPicPr>
            <p:cNvPr id="30" name="Picture 6" descr="A close up of a logo&#10;&#10;Description automatically generated"/>
            <p:cNvPicPr/>
            <p:nvPr/>
          </p:nvPicPr>
          <p:blipFill>
            <a:blip r:embed="rId3"/>
            <a:stretch/>
          </p:blipFill>
          <p:spPr>
            <a:xfrm>
              <a:off x="8267400" y="869040"/>
              <a:ext cx="1262880" cy="4104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1" name="Picture 7" descr="A yellow and red shell logo&#10;&#10;Description automatically generated"/>
            <p:cNvPicPr/>
            <p:nvPr/>
          </p:nvPicPr>
          <p:blipFill>
            <a:blip r:embed="rId4"/>
            <a:stretch/>
          </p:blipFill>
          <p:spPr>
            <a:xfrm>
              <a:off x="6890400" y="741960"/>
              <a:ext cx="789840" cy="663840"/>
            </a:xfrm>
            <a:prstGeom prst="rect">
              <a:avLst/>
            </a:prstGeom>
            <a:noFill/>
            <a:ln w="0"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Box 1"/>
          <p:cNvSpPr/>
          <p:nvPr/>
        </p:nvSpPr>
        <p:spPr>
          <a:xfrm>
            <a:off x="191880" y="972360"/>
            <a:ext cx="265248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IN" sz="2000" b="1" u="none" strike="noStrike">
                <a:solidFill>
                  <a:srgbClr val="213163"/>
                </a:solidFill>
                <a:effectLst/>
                <a:uFillTx/>
                <a:latin typeface="Arial"/>
                <a:ea typeface="Arial"/>
              </a:rPr>
              <a:t>Learning Objectives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Box 2"/>
          <p:cNvSpPr/>
          <p:nvPr/>
        </p:nvSpPr>
        <p:spPr>
          <a:xfrm>
            <a:off x="199800" y="6135480"/>
            <a:ext cx="79560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Aft>
                <a:spcPts val="799"/>
              </a:spcAft>
            </a:pPr>
            <a:r>
              <a:rPr lang="en-IN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Source :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Box 3"/>
          <p:cNvSpPr/>
          <p:nvPr/>
        </p:nvSpPr>
        <p:spPr>
          <a:xfrm>
            <a:off x="880560" y="6135480"/>
            <a:ext cx="1842120" cy="276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Aft>
                <a:spcPts val="799"/>
              </a:spcAft>
            </a:pPr>
            <a:r>
              <a:rPr lang="en-IN" sz="1200" b="0" u="sng" strike="noStrike">
                <a:solidFill>
                  <a:srgbClr val="0000FF"/>
                </a:solidFill>
                <a:effectLst/>
                <a:uFillTx/>
                <a:latin typeface="Arial"/>
                <a:ea typeface="Arial"/>
                <a:hlinkClick r:id="rId2"/>
              </a:rPr>
              <a:t>www.freepik.com/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" name="Straight Connector 4"/>
          <p:cNvCxnSpPr/>
          <p:nvPr/>
        </p:nvCxnSpPr>
        <p:spPr>
          <a:xfrm>
            <a:off x="0" y="6055200"/>
            <a:ext cx="12192120" cy="360"/>
          </a:xfrm>
          <a:prstGeom prst="straightConnector1">
            <a:avLst/>
          </a:prstGeom>
          <a:ln w="12700">
            <a:solidFill>
              <a:srgbClr val="FFFFFF">
                <a:lumMod val="85000"/>
              </a:srgbClr>
            </a:solidFill>
            <a:round/>
          </a:ln>
        </p:spPr>
      </p:cxnSp>
      <p:pic>
        <p:nvPicPr>
          <p:cNvPr id="36" name="Picture 5" descr="A ladder leading to a large yellow circle&#10;&#10;Description automatically generated"/>
          <p:cNvPicPr/>
          <p:nvPr/>
        </p:nvPicPr>
        <p:blipFill>
          <a:blip r:embed="rId3">
            <a:alphaModFix amt="85000"/>
          </a:blip>
          <a:srcRect l="13765" t="6136" r="13652"/>
          <a:stretch/>
        </p:blipFill>
        <p:spPr>
          <a:xfrm>
            <a:off x="7345800" y="1442880"/>
            <a:ext cx="4500360" cy="4632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TextBox 6"/>
          <p:cNvSpPr/>
          <p:nvPr/>
        </p:nvSpPr>
        <p:spPr>
          <a:xfrm>
            <a:off x="8839080" y="3168720"/>
            <a:ext cx="1503360" cy="63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Aft>
                <a:spcPts val="799"/>
              </a:spcAft>
            </a:pPr>
            <a:r>
              <a:rPr lang="en-IN" sz="3500" b="1" u="none" strike="noStrik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GOAL</a:t>
            </a:r>
            <a:endParaRPr lang="en-U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28600" y="1828800"/>
            <a:ext cx="7315200" cy="411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 goal of this project is to build a  web application that can predict solar energy output based on various weather and time features, using machine learning. </a:t>
            </a:r>
          </a:p>
          <a:p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 application must provide both a modern, interactive website (frontend) for users and a backend (server) that handles prediction requests by running a trained ML model.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Box 2"/>
          <p:cNvSpPr/>
          <p:nvPr/>
        </p:nvSpPr>
        <p:spPr>
          <a:xfrm>
            <a:off x="135720" y="1067760"/>
            <a:ext cx="61023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1" u="none" strike="noStrike">
                <a:solidFill>
                  <a:srgbClr val="213163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IN" sz="2000" b="1" u="none" strike="noStrike">
                <a:solidFill>
                  <a:srgbClr val="213163"/>
                </a:solidFill>
                <a:effectLst/>
                <a:uFillTx/>
                <a:latin typeface="Arial"/>
                <a:ea typeface="Arial"/>
              </a:rPr>
              <a:t>ools and Technology used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28600" y="1828800"/>
            <a:ext cx="11430000" cy="3476421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lstStyle/>
          <a:p>
            <a:r>
              <a:rPr lang="en-US" sz="2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ML Training</a:t>
            </a:r>
            <a:r>
              <a:rPr lang="en-US" sz="2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:  Python, scikit-learn, pandas, </a:t>
            </a:r>
            <a:r>
              <a:rPr lang="en-US" sz="22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numpy</a:t>
            </a:r>
            <a:r>
              <a:rPr lang="en-US" sz="2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, pickle</a:t>
            </a:r>
          </a:p>
          <a:p>
            <a:endParaRPr lang="en-US" sz="2200" b="1" dirty="0">
              <a:solidFill>
                <a:srgbClr val="000000"/>
              </a:solidFill>
              <a:latin typeface="Arial"/>
            </a:endParaRPr>
          </a:p>
          <a:p>
            <a:r>
              <a:rPr lang="en-US" sz="2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Backend: </a:t>
            </a:r>
            <a:r>
              <a:rPr lang="en-US" sz="2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Node.js, Express.js, csv-parser, </a:t>
            </a:r>
            <a:r>
              <a:rPr lang="en-US" sz="2200" b="0" u="none" strike="noStrike" dirty="0" err="1">
                <a:solidFill>
                  <a:srgbClr val="000000"/>
                </a:solidFill>
                <a:effectLst/>
                <a:uFillTx/>
                <a:latin typeface="Arial"/>
              </a:rPr>
              <a:t>cors</a:t>
            </a:r>
            <a:endParaRPr lang="en-US" sz="2200" dirty="0">
              <a:solidFill>
                <a:srgbClr val="000000"/>
              </a:solidFill>
              <a:latin typeface="Arial"/>
              <a:cs typeface="Arial"/>
            </a:endParaRPr>
          </a:p>
          <a:p>
            <a:endParaRPr lang="en-US" sz="2200" b="1" u="none" strike="noStrike" dirty="0">
              <a:solidFill>
                <a:srgbClr val="000000"/>
              </a:solidFill>
              <a:effectLst/>
              <a:uFillTx/>
              <a:latin typeface="Arial"/>
              <a:cs typeface="Arial"/>
            </a:endParaRPr>
          </a:p>
          <a:p>
            <a:r>
              <a:rPr lang="en-US" sz="2200" b="1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Frontend: </a:t>
            </a:r>
            <a:r>
              <a:rPr lang="en-US" sz="2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HTML5, CSS3, JavaScript, Chart.js</a:t>
            </a:r>
            <a:endParaRPr lang="en-US"/>
          </a:p>
          <a:p>
            <a:endParaRPr lang="en-US" sz="2200" b="1" dirty="0">
              <a:solidFill>
                <a:srgbClr val="000000"/>
              </a:solidFill>
              <a:latin typeface="Arial"/>
              <a:ea typeface="Microsoft YaHei"/>
            </a:endParaRPr>
          </a:p>
          <a:p>
            <a:r>
              <a:rPr lang="en-US" sz="2200" b="1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Version Control:</a:t>
            </a:r>
            <a:r>
              <a:rPr lang="en-US" sz="22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Git and GitHub (GitHub repo: </a:t>
            </a:r>
            <a:r>
              <a:rPr lang="en-US" sz="2200" b="0" u="none" strike="noStrike" dirty="0">
                <a:solidFill>
                  <a:srgbClr val="000000"/>
                </a:solidFill>
                <a:effectLst/>
                <a:uFillTx/>
                <a:latin typeface="Arial"/>
                <a:ea typeface="Microsoft YaHei"/>
                <a:hlinkClick r:id="rId2"/>
              </a:rPr>
              <a:t>solar energy </a:t>
            </a:r>
            <a:r>
              <a:rPr lang="en-US" sz="2200" dirty="0">
                <a:solidFill>
                  <a:srgbClr val="000000"/>
                </a:solidFill>
                <a:latin typeface="Arial"/>
                <a:ea typeface="Microsoft YaHei"/>
                <a:hlinkClick r:id="rId2"/>
              </a:rPr>
              <a:t>prediction</a:t>
            </a:r>
            <a:r>
              <a:rPr lang="en-US" sz="22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) to manage code and</a:t>
            </a:r>
            <a:endParaRPr lang="en-US" dirty="0"/>
          </a:p>
          <a:p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2"/>
          <p:cNvSpPr/>
          <p:nvPr/>
        </p:nvSpPr>
        <p:spPr>
          <a:xfrm>
            <a:off x="147884" y="1174901"/>
            <a:ext cx="11877517" cy="523074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u="none" strike="noStrike" dirty="0">
                <a:solidFill>
                  <a:srgbClr val="213163"/>
                </a:solidFill>
                <a:effectLst/>
                <a:uFillTx/>
                <a:latin typeface="Arial"/>
                <a:ea typeface="Arial"/>
              </a:rPr>
              <a:t>Methodology</a:t>
            </a:r>
            <a:r>
              <a:rPr lang="en-US" sz="1800" b="1" u="none" strike="noStrike" dirty="0">
                <a:solidFill>
                  <a:srgbClr val="213163"/>
                </a:solidFill>
                <a:effectLst/>
                <a:uFillTx/>
                <a:latin typeface="Arial"/>
                <a:ea typeface="Arial"/>
              </a:rPr>
              <a:t> </a:t>
            </a:r>
          </a:p>
          <a:p>
            <a:r>
              <a:rPr lang="en-US" b="1" dirty="0"/>
              <a:t>Data Generation and Feature Engineering</a:t>
            </a:r>
            <a:endParaRPr lang="en-US" dirty="0"/>
          </a:p>
          <a:p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A synthetic dataset of 300 hourly records was created, simulating solar energy data for January 2023.</a:t>
            </a:r>
            <a:endParaRPr lang="en-US" sz="2000" dirty="0">
              <a:cs typeface="Arial"/>
            </a:endParaRPr>
          </a:p>
          <a:p>
            <a:r>
              <a:rPr lang="en-US" sz="2000" b="1" dirty="0">
                <a:solidFill>
                  <a:srgbClr val="213163"/>
                </a:solidFill>
                <a:ea typeface="+mn-lt"/>
                <a:cs typeface="+mn-lt"/>
              </a:rPr>
              <a:t>Feature engineering</a:t>
            </a: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 was performed to improve predictive </a:t>
            </a:r>
            <a:r>
              <a:rPr lang="en-US" sz="2000" dirty="0" err="1">
                <a:solidFill>
                  <a:srgbClr val="213163"/>
                </a:solidFill>
                <a:ea typeface="+mn-lt"/>
                <a:cs typeface="+mn-lt"/>
              </a:rPr>
              <a:t>power:Extracted</a:t>
            </a: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 time-based features: </a:t>
            </a:r>
            <a:r>
              <a:rPr lang="en-US" sz="2000" dirty="0">
                <a:solidFill>
                  <a:srgbClr val="213163"/>
                </a:solidFill>
                <a:latin typeface="Consolas"/>
                <a:cs typeface="Arial"/>
              </a:rPr>
              <a:t>hour</a:t>
            </a: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, </a:t>
            </a:r>
            <a:r>
              <a:rPr lang="en-US" sz="2000" dirty="0">
                <a:solidFill>
                  <a:srgbClr val="213163"/>
                </a:solidFill>
                <a:latin typeface="Consolas"/>
                <a:cs typeface="Arial"/>
              </a:rPr>
              <a:t>weekday</a:t>
            </a: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, </a:t>
            </a:r>
            <a:r>
              <a:rPr lang="en-US" sz="2000" dirty="0">
                <a:solidFill>
                  <a:srgbClr val="213163"/>
                </a:solidFill>
                <a:latin typeface="Consolas"/>
                <a:cs typeface="Arial"/>
              </a:rPr>
              <a:t>day</a:t>
            </a: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, </a:t>
            </a:r>
            <a:r>
              <a:rPr lang="en-US" sz="2000" dirty="0">
                <a:solidFill>
                  <a:srgbClr val="213163"/>
                </a:solidFill>
                <a:latin typeface="Consolas"/>
                <a:cs typeface="Arial"/>
              </a:rPr>
              <a:t>month</a:t>
            </a: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, and cyclical encoding  to capture daily cycles. Environmental / </a:t>
            </a:r>
            <a:r>
              <a:rPr lang="en-US" sz="2000" dirty="0" err="1">
                <a:solidFill>
                  <a:srgbClr val="213163"/>
                </a:solidFill>
                <a:ea typeface="+mn-lt"/>
                <a:cs typeface="+mn-lt"/>
              </a:rPr>
              <a:t>weatherfeatures</a:t>
            </a: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 : </a:t>
            </a:r>
            <a:r>
              <a:rPr lang="en-US" sz="2000" dirty="0">
                <a:solidFill>
                  <a:srgbClr val="213163"/>
                </a:solidFill>
                <a:latin typeface="Consolas"/>
                <a:cs typeface="Arial"/>
              </a:rPr>
              <a:t>temperature</a:t>
            </a: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, </a:t>
            </a:r>
            <a:r>
              <a:rPr lang="en-US" sz="2000" dirty="0">
                <a:solidFill>
                  <a:srgbClr val="213163"/>
                </a:solidFill>
                <a:latin typeface="Consolas"/>
                <a:cs typeface="Arial"/>
              </a:rPr>
              <a:t>humidity</a:t>
            </a: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, </a:t>
            </a:r>
            <a:r>
              <a:rPr lang="en-US" sz="2000" dirty="0" err="1">
                <a:solidFill>
                  <a:srgbClr val="213163"/>
                </a:solidFill>
                <a:latin typeface="Consolas"/>
                <a:cs typeface="Arial"/>
              </a:rPr>
              <a:t>cloud_cover</a:t>
            </a:r>
            <a:r>
              <a:rPr lang="en-US" sz="2000" dirty="0">
                <a:solidFill>
                  <a:srgbClr val="213163"/>
                </a:solidFill>
                <a:latin typeface="Consolas"/>
                <a:ea typeface="+mn-lt"/>
                <a:cs typeface="+mn-lt"/>
              </a:rPr>
              <a:t> ,</a:t>
            </a:r>
            <a:r>
              <a:rPr lang="en-US" sz="2000" dirty="0" err="1">
                <a:solidFill>
                  <a:srgbClr val="213163"/>
                </a:solidFill>
                <a:latin typeface="Consolas"/>
                <a:cs typeface="Arial"/>
              </a:rPr>
              <a:t>solar_irradiance</a:t>
            </a:r>
            <a:r>
              <a:rPr lang="en-US" sz="2000" dirty="0">
                <a:solidFill>
                  <a:srgbClr val="213163"/>
                </a:solidFill>
                <a:latin typeface="Consolas"/>
                <a:cs typeface="Arial"/>
              </a:rPr>
              <a:t> </a:t>
            </a:r>
            <a:r>
              <a:rPr lang="en-US" sz="2000" dirty="0" err="1">
                <a:solidFill>
                  <a:srgbClr val="213163"/>
                </a:solidFill>
                <a:latin typeface="Consolas"/>
                <a:cs typeface="Arial"/>
              </a:rPr>
              <a:t>wind_speed</a:t>
            </a: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, etc. Rolling averages  for </a:t>
            </a:r>
            <a:r>
              <a:rPr lang="en-US" sz="2000" dirty="0" err="1">
                <a:solidFill>
                  <a:srgbClr val="213163"/>
                </a:solidFill>
                <a:latin typeface="Consolas"/>
                <a:ea typeface="+mn-lt"/>
                <a:cs typeface="+mn-lt"/>
              </a:rPr>
              <a:t>solar_irradiance</a:t>
            </a: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, </a:t>
            </a:r>
            <a:r>
              <a:rPr lang="en-US" sz="2000" dirty="0">
                <a:solidFill>
                  <a:srgbClr val="213163"/>
                </a:solidFill>
                <a:latin typeface="Consolas"/>
                <a:ea typeface="+mn-lt"/>
                <a:cs typeface="+mn-lt"/>
              </a:rPr>
              <a:t>temperature</a:t>
            </a: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, </a:t>
            </a:r>
            <a:r>
              <a:rPr lang="en-US" sz="2000" dirty="0" err="1">
                <a:solidFill>
                  <a:srgbClr val="213163"/>
                </a:solidFill>
                <a:latin typeface="Consolas"/>
                <a:ea typeface="+mn-lt"/>
                <a:cs typeface="+mn-lt"/>
              </a:rPr>
              <a:t>cloud_cover</a:t>
            </a: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.</a:t>
            </a:r>
            <a:endParaRPr lang="en-US" sz="2000" dirty="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2000" b="1" dirty="0">
                <a:solidFill>
                  <a:srgbClr val="000000"/>
                </a:solidFill>
                <a:ea typeface="+mn-lt"/>
                <a:cs typeface="+mn-lt"/>
              </a:rPr>
              <a:t>ML Model Training </a:t>
            </a: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The project used a </a:t>
            </a:r>
            <a:r>
              <a:rPr lang="en-US" sz="2000" b="1" dirty="0">
                <a:solidFill>
                  <a:srgbClr val="213163"/>
                </a:solidFill>
                <a:ea typeface="+mn-lt"/>
                <a:cs typeface="+mn-lt"/>
              </a:rPr>
              <a:t>Random Forest Regressor</a:t>
            </a: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 (an advanced, ensemble-based machine learning model) for prediction, built using the engineered dataset.</a:t>
            </a:r>
            <a:endParaRPr lang="en-US" sz="2000">
              <a:cs typeface="Arial"/>
            </a:endParaRPr>
          </a:p>
          <a:p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Data was split (80% for training, 20% for testing). The model reached around </a:t>
            </a:r>
            <a:r>
              <a:rPr lang="en-US" sz="2000" b="1" dirty="0">
                <a:solidFill>
                  <a:srgbClr val="213163"/>
                </a:solidFill>
                <a:ea typeface="+mn-lt"/>
                <a:cs typeface="+mn-lt"/>
              </a:rPr>
              <a:t>94% accuracy</a:t>
            </a: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 (R² score) on test data.</a:t>
            </a:r>
            <a:endParaRPr lang="en-US" sz="2000" dirty="0">
              <a:cs typeface="Arial"/>
            </a:endParaRPr>
          </a:p>
          <a:p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The model was saved (</a:t>
            </a:r>
            <a:r>
              <a:rPr lang="en-US" sz="2000" dirty="0">
                <a:solidFill>
                  <a:srgbClr val="213163"/>
                </a:solidFill>
                <a:latin typeface="Consolas"/>
                <a:cs typeface="Arial"/>
              </a:rPr>
              <a:t>model.pkl</a:t>
            </a: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) and integrated into the backend.</a:t>
            </a:r>
            <a:endParaRPr lang="en-US" sz="2000" dirty="0">
              <a:cs typeface="Arial"/>
            </a:endParaRPr>
          </a:p>
          <a:p>
            <a:r>
              <a:rPr lang="en-US" dirty="0"/>
              <a:t> </a:t>
            </a:r>
            <a:r>
              <a:rPr lang="en-US" b="1" dirty="0"/>
              <a:t>Web Application Development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solidFill>
                  <a:srgbClr val="213163"/>
                </a:solidFill>
                <a:ea typeface="+mn-lt"/>
                <a:cs typeface="+mn-lt"/>
              </a:rPr>
              <a:t>Backend</a:t>
            </a: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: Built with Node.js and Express.js.</a:t>
            </a:r>
            <a:endParaRPr lang="en-US" sz="20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 dirty="0">
                <a:solidFill>
                  <a:srgbClr val="213163"/>
                </a:solidFill>
                <a:ea typeface="+mn-lt"/>
                <a:cs typeface="+mn-lt"/>
              </a:rPr>
              <a:t>Frontend</a:t>
            </a: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: Built with HTML, CSS, and JavaScript.</a:t>
            </a:r>
            <a:endParaRPr lang="en-US" sz="2000" dirty="0">
              <a:solidFill>
                <a:srgbClr val="213163"/>
              </a:solidFill>
              <a:latin typeface="Arial"/>
              <a:cs typeface="Arial"/>
            </a:endParaRPr>
          </a:p>
          <a:p>
            <a:endParaRPr lang="en-US" sz="2000" dirty="0">
              <a:solidFill>
                <a:srgbClr val="213163"/>
              </a:solidFill>
              <a:latin typeface="Arial"/>
              <a:cs typeface="Arial"/>
            </a:endParaRPr>
          </a:p>
          <a:p>
            <a:endParaRPr lang="en-US" b="1" dirty="0">
              <a:solidFill>
                <a:srgbClr val="213163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2"/>
          <p:cNvSpPr/>
          <p:nvPr/>
        </p:nvSpPr>
        <p:spPr>
          <a:xfrm>
            <a:off x="255240" y="1054440"/>
            <a:ext cx="11904254" cy="37841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u="none" strike="noStrike" dirty="0">
                <a:solidFill>
                  <a:srgbClr val="213163"/>
                </a:solidFill>
                <a:effectLst/>
                <a:uFillTx/>
                <a:latin typeface="Arial"/>
                <a:ea typeface="Arial"/>
              </a:rPr>
              <a:t>Problem Statement:  </a:t>
            </a:r>
          </a:p>
          <a:p>
            <a:endParaRPr lang="en-US" sz="2000" b="1" dirty="0">
              <a:solidFill>
                <a:srgbClr val="213163"/>
              </a:solidFill>
              <a:ea typeface="+mn-lt"/>
              <a:cs typeface="+mn-lt"/>
            </a:endParaRPr>
          </a:p>
          <a:p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Developing an accurate, interactive web-based system for solar energy prediction remains a significant challenge for both researchers and energy practitioners. The prediction of solar energy output is complicated by the variability of weather conditions and daily/seasonal patterns, making it difficult for end-users, researchers, or utilities to plan energy usage, grid integration, or system performance.</a:t>
            </a:r>
            <a:endParaRPr lang="en-US" sz="2000">
              <a:cs typeface="Arial"/>
            </a:endParaRPr>
          </a:p>
          <a:p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There is a need for a user-friendly yet advanced solution that can</a:t>
            </a:r>
            <a:r>
              <a:rPr lang="en-US" sz="2000" b="1" dirty="0">
                <a:solidFill>
                  <a:srgbClr val="213163"/>
                </a:solidFill>
                <a:ea typeface="+mn-lt"/>
                <a:cs typeface="+mn-lt"/>
              </a:rPr>
              <a:t>:</a:t>
            </a:r>
            <a:endParaRPr lang="en-US" sz="20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Ingest time and weather data,</a:t>
            </a:r>
            <a:endParaRPr lang="en-US" sz="20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Automatically engineer relevant features,</a:t>
            </a:r>
            <a:endParaRPr lang="en-US" sz="20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Apply powerful machine learning algorithms for accurate forecasting,</a:t>
            </a:r>
            <a:endParaRPr lang="en-US" sz="20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And present predictions and insights through a modern, accessible web interface.</a:t>
            </a:r>
            <a:endParaRPr lang="en-US" sz="2000" dirty="0">
              <a:cs typeface="Arial"/>
            </a:endParaRPr>
          </a:p>
          <a:p>
            <a:endParaRPr lang="en-US" sz="2000" b="1" dirty="0">
              <a:solidFill>
                <a:srgbClr val="213163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2"/>
          <p:cNvSpPr/>
          <p:nvPr/>
        </p:nvSpPr>
        <p:spPr>
          <a:xfrm>
            <a:off x="255240" y="1054440"/>
            <a:ext cx="11904254" cy="550774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u="none" strike="noStrike" dirty="0">
                <a:solidFill>
                  <a:srgbClr val="213163"/>
                </a:solidFill>
                <a:effectLst/>
                <a:uFillTx/>
                <a:latin typeface="Arial"/>
                <a:ea typeface="Arial"/>
              </a:rPr>
              <a:t>Solution:  </a:t>
            </a:r>
          </a:p>
          <a:p>
            <a:endParaRPr lang="en-US" sz="1200" dirty="0">
              <a:solidFill>
                <a:srgbClr val="213163"/>
              </a:solidFill>
              <a:ea typeface="+mn-lt"/>
              <a:cs typeface="+mn-lt"/>
            </a:endParaRPr>
          </a:p>
          <a:p>
            <a:r>
              <a:rPr lang="en-US" sz="1200" dirty="0">
                <a:solidFill>
                  <a:srgbClr val="213163"/>
                </a:solidFill>
                <a:ea typeface="+mn-lt"/>
                <a:cs typeface="+mn-lt"/>
              </a:rPr>
              <a:t>This project provides a complete </a:t>
            </a:r>
            <a:r>
              <a:rPr lang="en-US" sz="1200" b="1" dirty="0">
                <a:solidFill>
                  <a:srgbClr val="213163"/>
                </a:solidFill>
                <a:ea typeface="+mn-lt"/>
                <a:cs typeface="+mn-lt"/>
              </a:rPr>
              <a:t> web application</a:t>
            </a:r>
            <a:r>
              <a:rPr lang="en-US" sz="1200" dirty="0">
                <a:solidFill>
                  <a:srgbClr val="213163"/>
                </a:solidFill>
                <a:ea typeface="+mn-lt"/>
                <a:cs typeface="+mn-lt"/>
              </a:rPr>
              <a:t> for accurate solar energy prediction and visualization, featuring:</a:t>
            </a:r>
            <a:endParaRPr lang="en-US">
              <a:cs typeface="Arial"/>
            </a:endParaRPr>
          </a:p>
          <a:p>
            <a:endParaRPr lang="en-US" dirty="0"/>
          </a:p>
          <a:p>
            <a:r>
              <a:rPr lang="en-US" dirty="0"/>
              <a:t> </a:t>
            </a:r>
            <a:r>
              <a:rPr lang="en-US" b="1" dirty="0"/>
              <a:t>Data Simulation and Feature Engineering</a:t>
            </a:r>
            <a:endParaRPr lang="en-US" dirty="0">
              <a:cs typeface="Arial"/>
            </a:endParaRPr>
          </a:p>
          <a:p>
            <a:r>
              <a:rPr lang="en-US" sz="1200">
                <a:solidFill>
                  <a:srgbClr val="213163"/>
                </a:solidFill>
                <a:ea typeface="+mn-lt"/>
                <a:cs typeface="+mn-lt"/>
              </a:rPr>
              <a:t>Generates a synthetic solar energy dataset with 300 hourly records, including environmental, temporal, and solar-related features.</a:t>
            </a:r>
            <a:endParaRPr lang="en-US">
              <a:cs typeface="Arial"/>
            </a:endParaRPr>
          </a:p>
          <a:p>
            <a:r>
              <a:rPr lang="en-US" sz="1200">
                <a:solidFill>
                  <a:srgbClr val="213163"/>
                </a:solidFill>
                <a:ea typeface="+mn-lt"/>
                <a:cs typeface="+mn-lt"/>
              </a:rPr>
              <a:t>Performs advanced feature engineering such as extracting hour, weekday, rolling averages, cyclical (sin/cos) encoding, and daylight indicators to capture patterns relevant to solar energy forecasting.</a:t>
            </a:r>
            <a:endParaRPr lang="en-US">
              <a:cs typeface="Arial"/>
            </a:endParaRPr>
          </a:p>
          <a:p>
            <a:r>
              <a:rPr lang="en-US" dirty="0"/>
              <a:t> </a:t>
            </a:r>
            <a:r>
              <a:rPr lang="en-US" b="1" dirty="0"/>
              <a:t>Machine Learning Model</a:t>
            </a:r>
            <a:endParaRPr lang="en-US" dirty="0"/>
          </a:p>
          <a:p>
            <a:r>
              <a:rPr lang="en-US" sz="1200" dirty="0">
                <a:solidFill>
                  <a:srgbClr val="213163"/>
                </a:solidFill>
                <a:ea typeface="+mn-lt"/>
                <a:cs typeface="+mn-lt"/>
              </a:rPr>
              <a:t>Trains a </a:t>
            </a:r>
            <a:r>
              <a:rPr lang="en-US" sz="1200" b="1" dirty="0">
                <a:solidFill>
                  <a:srgbClr val="213163"/>
                </a:solidFill>
                <a:ea typeface="+mn-lt"/>
                <a:cs typeface="+mn-lt"/>
              </a:rPr>
              <a:t>Random Forest Regressor</a:t>
            </a:r>
            <a:r>
              <a:rPr lang="en-US" sz="1200" dirty="0">
                <a:solidFill>
                  <a:srgbClr val="213163"/>
                </a:solidFill>
                <a:ea typeface="+mn-lt"/>
                <a:cs typeface="+mn-lt"/>
              </a:rPr>
              <a:t> on the engineered dataset to predict solar energy output based on all relevant factors.</a:t>
            </a:r>
            <a:endParaRPr lang="en-US" dirty="0">
              <a:cs typeface="Arial"/>
            </a:endParaRPr>
          </a:p>
          <a:p>
            <a:r>
              <a:rPr lang="en-US" sz="1200" dirty="0">
                <a:solidFill>
                  <a:srgbClr val="213163"/>
                </a:solidFill>
                <a:ea typeface="+mn-lt"/>
                <a:cs typeface="+mn-lt"/>
              </a:rPr>
              <a:t>Achieves high prediction accuracy (~94%), providing reliable estimates of future solar energy output.</a:t>
            </a:r>
            <a:endParaRPr lang="en-US" dirty="0">
              <a:cs typeface="Arial"/>
            </a:endParaRPr>
          </a:p>
          <a:p>
            <a:r>
              <a:rPr lang="en-US" dirty="0"/>
              <a:t> </a:t>
            </a:r>
            <a:r>
              <a:rPr lang="en-US" b="1" dirty="0"/>
              <a:t>Backend Development (Node.js + Express)</a:t>
            </a:r>
            <a:endParaRPr lang="en-US" dirty="0"/>
          </a:p>
          <a:p>
            <a:r>
              <a:rPr lang="en-US" sz="1200">
                <a:solidFill>
                  <a:srgbClr val="213163"/>
                </a:solidFill>
                <a:ea typeface="+mn-lt"/>
                <a:cs typeface="+mn-lt"/>
              </a:rPr>
              <a:t>Implements an Express.js API server that: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200">
                <a:solidFill>
                  <a:srgbClr val="213163"/>
                </a:solidFill>
                <a:ea typeface="+mn-lt"/>
                <a:cs typeface="+mn-lt"/>
              </a:rPr>
              <a:t>Serves user requests for data and predictions.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200">
                <a:solidFill>
                  <a:srgbClr val="213163"/>
                </a:solidFill>
                <a:ea typeface="+mn-lt"/>
                <a:cs typeface="+mn-lt"/>
              </a:rPr>
              <a:t>Loads and utilizes the trained machine learning model for real-time inference.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200">
                <a:solidFill>
                  <a:srgbClr val="213163"/>
                </a:solidFill>
                <a:ea typeface="+mn-lt"/>
                <a:cs typeface="+mn-lt"/>
              </a:rPr>
              <a:t>Handles feature processing transparently to users.</a:t>
            </a:r>
            <a:endParaRPr lang="en-US"/>
          </a:p>
          <a:p>
            <a:r>
              <a:rPr lang="en-US" dirty="0"/>
              <a:t> </a:t>
            </a:r>
            <a:r>
              <a:rPr lang="en-US" b="1" dirty="0"/>
              <a:t>Frontend Dashboard (HTML, CSS, JavaScript, Chart.js)</a:t>
            </a:r>
            <a:endParaRPr lang="en-US" dirty="0">
              <a:cs typeface="Arial"/>
            </a:endParaRPr>
          </a:p>
          <a:p>
            <a:r>
              <a:rPr lang="en-US" sz="1200">
                <a:solidFill>
                  <a:srgbClr val="213163"/>
                </a:solidFill>
                <a:ea typeface="+mn-lt"/>
                <a:cs typeface="+mn-lt"/>
              </a:rPr>
              <a:t> Offers a modern, interactive dashboard that: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200">
                <a:solidFill>
                  <a:srgbClr val="213163"/>
                </a:solidFill>
                <a:ea typeface="+mn-lt"/>
                <a:cs typeface="+mn-lt"/>
              </a:rPr>
              <a:t>Visualizes the dataset and model outputs using Chart.js for trends, distributions, and relationships.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200" dirty="0">
                <a:solidFill>
                  <a:srgbClr val="213163"/>
                </a:solidFill>
                <a:ea typeface="+mn-lt"/>
                <a:cs typeface="+mn-lt"/>
              </a:rPr>
              <a:t>Allows users to input custom weather and time features to generate real-</a:t>
            </a:r>
            <a:r>
              <a:rPr lang="en-US" sz="1200">
                <a:solidFill>
                  <a:srgbClr val="213163"/>
                </a:solidFill>
                <a:ea typeface="+mn-lt"/>
                <a:cs typeface="+mn-lt"/>
              </a:rPr>
              <a:t>time solar energy predictions.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200">
                <a:solidFill>
                  <a:srgbClr val="213163"/>
                </a:solidFill>
                <a:ea typeface="+mn-lt"/>
                <a:cs typeface="+mn-lt"/>
              </a:rPr>
              <a:t>Presents project, model, and data information clearly.</a:t>
            </a:r>
            <a:endParaRPr lang="en-US"/>
          </a:p>
          <a:p>
            <a:r>
              <a:rPr lang="en-US" dirty="0"/>
              <a:t> </a:t>
            </a:r>
            <a:r>
              <a:rPr lang="en-US" b="1" dirty="0"/>
              <a:t>User Experience and Accessibility</a:t>
            </a:r>
            <a:endParaRPr lang="en-US" dirty="0">
              <a:cs typeface="Arial"/>
            </a:endParaRPr>
          </a:p>
          <a:p>
            <a:r>
              <a:rPr lang="en-US" sz="1200" dirty="0">
                <a:solidFill>
                  <a:srgbClr val="213163"/>
                </a:solidFill>
                <a:ea typeface="+mn-lt"/>
                <a:cs typeface="+mn-lt"/>
              </a:rPr>
              <a:t>Delivered as a single ZIP file with complete documentation, easy setup, and all dependencies included.</a:t>
            </a:r>
            <a:endParaRPr lang="en-US" dirty="0">
              <a:cs typeface="Arial"/>
            </a:endParaRPr>
          </a:p>
          <a:p>
            <a:r>
              <a:rPr lang="en-US" sz="1200" dirty="0">
                <a:solidFill>
                  <a:srgbClr val="213163"/>
                </a:solidFill>
                <a:ea typeface="+mn-lt"/>
                <a:cs typeface="+mn-lt"/>
              </a:rPr>
              <a:t>Ready to run locally in VS Code with minimal setup, suitable for demos, education, and further development.</a:t>
            </a:r>
            <a:endParaRPr lang="en-US" dirty="0">
              <a:cs typeface="Arial"/>
            </a:endParaRPr>
          </a:p>
          <a:p>
            <a:endParaRPr lang="en-US" sz="2000" b="1" dirty="0">
              <a:solidFill>
                <a:srgbClr val="213163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2"/>
          <p:cNvSpPr/>
          <p:nvPr/>
        </p:nvSpPr>
        <p:spPr>
          <a:xfrm>
            <a:off x="255240" y="1054440"/>
            <a:ext cx="6102360" cy="399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213163"/>
                </a:solidFill>
                <a:effectLst/>
                <a:uFillTx/>
                <a:latin typeface="Arial"/>
                <a:ea typeface="Arial"/>
              </a:rPr>
              <a:t>Screenshot of Output: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 descr="A screenshot of a web page&#10;&#10;AI-generated content may be incorrect.">
            <a:extLst>
              <a:ext uri="{FF2B5EF4-FFF2-40B4-BE49-F238E27FC236}">
                <a16:creationId xmlns:a16="http://schemas.microsoft.com/office/drawing/2014/main" id="{2EF3B30E-1F97-25B8-85D7-E744C150C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13" y="1737894"/>
            <a:ext cx="8640607" cy="51201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2"/>
          <p:cNvSpPr/>
          <p:nvPr/>
        </p:nvSpPr>
        <p:spPr>
          <a:xfrm>
            <a:off x="149040" y="988200"/>
            <a:ext cx="12011202" cy="378419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u="none" strike="noStrike" dirty="0">
                <a:solidFill>
                  <a:srgbClr val="213163"/>
                </a:solidFill>
                <a:effectLst/>
                <a:uFillTx/>
                <a:latin typeface="Arial"/>
                <a:ea typeface="Arial"/>
              </a:rPr>
              <a:t>Conclusion:</a:t>
            </a:r>
            <a:r>
              <a:rPr lang="en-US" sz="1800" b="1" u="none" strike="noStrike" dirty="0">
                <a:solidFill>
                  <a:srgbClr val="213163"/>
                </a:solidFill>
                <a:effectLst/>
                <a:uFillTx/>
                <a:latin typeface="Arial"/>
                <a:ea typeface="Arial"/>
              </a:rPr>
              <a:t>  </a:t>
            </a:r>
          </a:p>
          <a:p>
            <a:r>
              <a:rPr lang="en-US" sz="1200" dirty="0">
                <a:solidFill>
                  <a:srgbClr val="213163"/>
                </a:solidFill>
                <a:ea typeface="+mn-lt"/>
                <a:cs typeface="+mn-lt"/>
              </a:rPr>
              <a:t>T</a:t>
            </a: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his project successfully demonstrates how machine learning and modern web technologies can be combined to solve real-world forecasting challenges in the renewable energy sector. By simulating and engineering a robust solar energy dataset, training a high-accuracy Random Forest regression model, and deploying it with an interactive full-stack web application</a:t>
            </a:r>
          </a:p>
          <a:p>
            <a:endParaRPr lang="en-US" sz="2000" dirty="0">
              <a:solidFill>
                <a:srgbClr val="213163"/>
              </a:solidFill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Reliable solar energy predictions based on key weather and time features,</a:t>
            </a:r>
            <a:endParaRPr lang="en-US" sz="20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Powerful data visualization and exploration tools,</a:t>
            </a:r>
            <a:endParaRPr lang="en-US" sz="20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Real-time, user-driven predictions in a browser-friendly dashboard,</a:t>
            </a:r>
            <a:endParaRPr lang="en-US" sz="20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solidFill>
                  <a:srgbClr val="213163"/>
                </a:solidFill>
                <a:ea typeface="+mn-lt"/>
                <a:cs typeface="+mn-lt"/>
              </a:rPr>
              <a:t>A portable, easy-to-run package that can be used for education, experimentation, or as a foundation for deeper research.</a:t>
            </a:r>
            <a:endParaRPr lang="en-US" sz="2000" dirty="0">
              <a:cs typeface="Arial"/>
            </a:endParaRPr>
          </a:p>
          <a:p>
            <a:endParaRPr lang="en-US" sz="2000" dirty="0">
              <a:solidFill>
                <a:srgbClr val="213163"/>
              </a:solidFill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17</TotalTime>
  <Words>31</Words>
  <Application>Microsoft Office PowerPoint</Application>
  <PresentationFormat>Widescreen</PresentationFormat>
  <Paragraphs>11</Paragraphs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Mahesh Kurhe</dc:creator>
  <dc:description/>
  <cp:lastModifiedBy/>
  <cp:revision>100</cp:revision>
  <dcterms:created xsi:type="dcterms:W3CDTF">2024-12-31T09:40:01Z</dcterms:created>
  <dcterms:modified xsi:type="dcterms:W3CDTF">2025-11-17T10:54:42Z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8</vt:i4>
  </property>
</Properties>
</file>